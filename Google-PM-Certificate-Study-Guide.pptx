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C04000"/>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1  ·  Presentation</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Google Project Management Certificate</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Comprehensive Course Review</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Foundations of Project Management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Project Initiation · Planning · Execution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Agile and Scrum · Closing and Career Readiness</a:t>
            </a:r>
            <a:endParaRPr lang="en-US" sz="1300" dirty="0"/>
          </a:p>
        </p:txBody>
      </p:sp>
      <p:sp>
        <p:nvSpPr>
          <p:cNvPr id="6" name="Shape 4"/>
          <p:cNvSpPr/>
          <p:nvPr/>
        </p:nvSpPr>
        <p:spPr>
          <a:xfrm>
            <a:off x="548640" y="6126480"/>
            <a:ext cx="1371600" cy="18288"/>
          </a:xfrm>
          <a:prstGeom prst="rect">
            <a:avLst/>
          </a:prstGeom>
          <a:solidFill>
            <a:srgbClr val="C04000"/>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4472C4"/>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2  ·  Foundations</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What Is Project Management?</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application of knowledge, skills, tools, and techniques to meet project requirements and achieve the desired outcome.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Key Activities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Planning and organizing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Managing tasks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Budgeting and controlling costs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Ensuring delivery on time and within scope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Why It Matters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Businesses depend on project management to deliver expected outcomes on time and within budget. Without it, projects risk missing goals, overspending, or failing entirely.</a:t>
            </a:r>
            <a:endParaRPr lang="en-US" sz="1300" dirty="0"/>
          </a:p>
        </p:txBody>
      </p:sp>
      <p:sp>
        <p:nvSpPr>
          <p:cNvPr id="6" name="Shape 4"/>
          <p:cNvSpPr/>
          <p:nvPr/>
        </p:nvSpPr>
        <p:spPr>
          <a:xfrm>
            <a:off x="548640" y="6126480"/>
            <a:ext cx="1371600" cy="18288"/>
          </a:xfrm>
          <a:prstGeom prst="rect">
            <a:avLst/>
          </a:prstGeom>
          <a:solidFill>
            <a:srgbClr val="4472C4"/>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4472C4"/>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3  ·  Foundations</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What Does a Project Manager Actually Do?</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Project managers follow a structured process but wear many hats: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Use productivity tools and create processes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Create project plans, schedules, and budgets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Manage and communicate with stakeholders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Identify and manage risks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Guide the team from initiation through closing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Remove obstacles blocking team progress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 project manager does not do all the work directly. They support the people who do."</a:t>
            </a:r>
            <a:endParaRPr lang="en-US" sz="1300" dirty="0"/>
          </a:p>
        </p:txBody>
      </p:sp>
      <p:sp>
        <p:nvSpPr>
          <p:cNvPr id="6" name="Shape 4"/>
          <p:cNvSpPr/>
          <p:nvPr/>
        </p:nvSpPr>
        <p:spPr>
          <a:xfrm>
            <a:off x="548640" y="6126480"/>
            <a:ext cx="1371600" cy="18288"/>
          </a:xfrm>
          <a:prstGeom prst="rect">
            <a:avLst/>
          </a:prstGeom>
          <a:solidFill>
            <a:srgbClr val="4472C4"/>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4472C4"/>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4  ·  Foundations</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The Value of a Project Manager</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Project managers add value through four core dimensions: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Prioritization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Deciding what the team should focus on first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Delegation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Assigning work to the right people at the right time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Communication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Serving as the main information hub for the team and stakeholders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Organizational Skills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Keeping everyone aligned and moving forward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Project managers shepherd projects from start to finish, serving as guides using impeccable organizational and interpersonal skills every step of the way.</a:t>
            </a:r>
            <a:endParaRPr lang="en-US" sz="1300" dirty="0"/>
          </a:p>
        </p:txBody>
      </p:sp>
      <p:sp>
        <p:nvSpPr>
          <p:cNvPr id="6" name="Shape 4"/>
          <p:cNvSpPr/>
          <p:nvPr/>
        </p:nvSpPr>
        <p:spPr>
          <a:xfrm>
            <a:off x="548640" y="6126480"/>
            <a:ext cx="1371600" cy="18288"/>
          </a:xfrm>
          <a:prstGeom prst="rect">
            <a:avLst/>
          </a:prstGeom>
          <a:solidFill>
            <a:srgbClr val="4472C4"/>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4472C4"/>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5  ·  Foundations</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Professional Project Management Skills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Core Competencies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Planning and organizing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Managing tasks and priorities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Budget management and cost control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Communication and stakeholder management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Risk identification and mitigation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Leadership and team motivation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Soft Skills That Matter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Negotiation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Empathetic listening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Trust building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Influencing without authority</a:t>
            </a:r>
            <a:endParaRPr lang="en-US" sz="1300" dirty="0"/>
          </a:p>
        </p:txBody>
      </p:sp>
      <p:sp>
        <p:nvSpPr>
          <p:cNvPr id="6" name="Shape 4"/>
          <p:cNvSpPr/>
          <p:nvPr/>
        </p:nvSpPr>
        <p:spPr>
          <a:xfrm>
            <a:off x="548640" y="6126480"/>
            <a:ext cx="1371600" cy="18288"/>
          </a:xfrm>
          <a:prstGeom prst="rect">
            <a:avLst/>
          </a:prstGeom>
          <a:solidFill>
            <a:srgbClr val="4472C4"/>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4472C4"/>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6  ·  Foundations</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Project Structures and Life Cycles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Project Life Cycle consists of four phases: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Initiation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Define the project, identify stakeholders, create the project charter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Planning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Develop the project plan, set schedule, identify tasks and milestones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Execution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Carry out the plan, manage the team, track progress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Closing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Formally complete the project, document lessons learned, hand off deliverables</a:t>
            </a:r>
            <a:endParaRPr lang="en-US" sz="1300" dirty="0"/>
          </a:p>
        </p:txBody>
      </p:sp>
      <p:sp>
        <p:nvSpPr>
          <p:cNvPr id="6" name="Shape 4"/>
          <p:cNvSpPr/>
          <p:nvPr/>
        </p:nvSpPr>
        <p:spPr>
          <a:xfrm>
            <a:off x="548640" y="6126480"/>
            <a:ext cx="1371600" cy="18288"/>
          </a:xfrm>
          <a:prstGeom prst="rect">
            <a:avLst/>
          </a:prstGeom>
          <a:solidFill>
            <a:srgbClr val="4472C4"/>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4472C4"/>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7  ·  Foundations</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Organizational Structure and Company Culture</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Types of Organizational Structures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Classic / Functional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Team members report to functional managers, PM has less authority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Matrix</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Team members report to both a functional manager and a project manager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Project-based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Team members are dedicated to projects, PM has more authority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Why Culture Matters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Organizational culture is based on shared workplace values. It shows up in how people communicate, make decisions, and work together.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 project that is out of sync with the company's culture is much harder to complete successfully.</a:t>
            </a:r>
            <a:endParaRPr lang="en-US" sz="1300" dirty="0"/>
          </a:p>
        </p:txBody>
      </p:sp>
      <p:sp>
        <p:nvSpPr>
          <p:cNvPr id="6" name="Shape 4"/>
          <p:cNvSpPr/>
          <p:nvPr/>
        </p:nvSpPr>
        <p:spPr>
          <a:xfrm>
            <a:off x="548640" y="6126480"/>
            <a:ext cx="1371600" cy="18288"/>
          </a:xfrm>
          <a:prstGeom prst="rect">
            <a:avLst/>
          </a:prstGeom>
          <a:solidFill>
            <a:srgbClr val="4472C4"/>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4472C4"/>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8  ·  Foundations</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How Company Culture Affects Project Management</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Culture Influences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How decisions are made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How teams communicate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How conflict is handled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How change is accepted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Practical Impact for PMs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Understand who has authority and who needs to be consulted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Adapt communication style to fit the culture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Use the culture's strengths to move the project forward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Recognize when cultural barriers may slow progress and address them proactively</a:t>
            </a:r>
            <a:endParaRPr lang="en-US" sz="1300" dirty="0"/>
          </a:p>
        </p:txBody>
      </p:sp>
      <p:sp>
        <p:nvSpPr>
          <p:cNvPr id="6" name="Shape 4"/>
          <p:cNvSpPr/>
          <p:nvPr/>
        </p:nvSpPr>
        <p:spPr>
          <a:xfrm>
            <a:off x="548640" y="6126480"/>
            <a:ext cx="1371600" cy="18288"/>
          </a:xfrm>
          <a:prstGeom prst="rect">
            <a:avLst/>
          </a:prstGeom>
          <a:solidFill>
            <a:srgbClr val="4472C4"/>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54823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9  ·  Initiation</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Key Parts of Project Initiation</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Initiation is where you set the foundation. Key components: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Goals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What you are trying to accomplish</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Scope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What is and is not included in the project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Deliverables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tangible outcomes you will produce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Success Criteria</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How you will know the project succeeded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Stakeholders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Everyone who has an interest in the outcome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Resources</a:t>
            </a:r>
            <a:endParaRPr lang="en-US" sz="1300" dirty="0"/>
          </a:p>
        </p:txBody>
      </p:sp>
      <p:sp>
        <p:nvSpPr>
          <p:cNvPr id="6" name="Shape 4"/>
          <p:cNvSpPr/>
          <p:nvPr/>
        </p:nvSpPr>
        <p:spPr>
          <a:xfrm>
            <a:off x="548640" y="6126480"/>
            <a:ext cx="1371600" cy="18288"/>
          </a:xfrm>
          <a:prstGeom prst="rect">
            <a:avLst/>
          </a:prstGeom>
          <a:solidFill>
            <a:srgbClr val="54823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54823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10  ·  Initiation</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Setting SMART Goals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Goals must be SMART to be actionable: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Specific</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Clearly defined, not vague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Measurable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Has metrics or indicators of success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Attainable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Realistic and achievable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Relevant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Aligned with the broader business objective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Time-bound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Has a defined deadline or timeframe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SMART: "Increase customer satisfaction scores by 15% within 6 months by launching a new follow-up survey system"</a:t>
            </a:r>
            <a:endParaRPr lang="en-US" sz="1300" dirty="0"/>
          </a:p>
        </p:txBody>
      </p:sp>
      <p:sp>
        <p:nvSpPr>
          <p:cNvPr id="6" name="Shape 4"/>
          <p:cNvSpPr/>
          <p:nvPr/>
        </p:nvSpPr>
        <p:spPr>
          <a:xfrm>
            <a:off x="548640" y="6126480"/>
            <a:ext cx="1371600" cy="18288"/>
          </a:xfrm>
          <a:prstGeom prst="rect">
            <a:avLst/>
          </a:prstGeom>
          <a:solidFill>
            <a:srgbClr val="54823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54823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11  ·  Initiation</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Scope and Scope Creep</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Project Scope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Defines what is included and what is not included in the project.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Scope Creep</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Occurs when tasks or features are added to the project without a corresponding change to the timeline, budget, or resources.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How to Prevent Scope Creep</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Clearly document what is in scope at the start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Get sign-off from stakeholders on the scope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Have a formal change request process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Push back on additions that are not approved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Scope creep is one of the most common reasons projects go over budget and miss deadlines.</a:t>
            </a:r>
            <a:endParaRPr lang="en-US" sz="1300" dirty="0"/>
          </a:p>
        </p:txBody>
      </p:sp>
      <p:sp>
        <p:nvSpPr>
          <p:cNvPr id="6" name="Shape 4"/>
          <p:cNvSpPr/>
          <p:nvPr/>
        </p:nvSpPr>
        <p:spPr>
          <a:xfrm>
            <a:off x="548640" y="6126480"/>
            <a:ext cx="1371600" cy="18288"/>
          </a:xfrm>
          <a:prstGeom prst="rect">
            <a:avLst/>
          </a:prstGeom>
          <a:solidFill>
            <a:srgbClr val="54823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54823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12  ·  Initiation</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Communicating and Working with Stakeholders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Stakeholders are anyone who has an interest in the project outcome, including sponsors, customers, team members, and other departments.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Steps to Manage Stakeholders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Identify all stakeholders early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Understand their interests and influence levels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Create a stakeholder map (RACI chart)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Communicate regularly based on their needs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Involve them at key decision points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RACI Chart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Responsible — does the work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Accountable — owns the outcome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Consulted — provides input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Informed — kept up to date</a:t>
            </a:r>
            <a:endParaRPr lang="en-US" sz="1300" dirty="0"/>
          </a:p>
        </p:txBody>
      </p:sp>
      <p:sp>
        <p:nvSpPr>
          <p:cNvPr id="6" name="Shape 4"/>
          <p:cNvSpPr/>
          <p:nvPr/>
        </p:nvSpPr>
        <p:spPr>
          <a:xfrm>
            <a:off x="548640" y="6126480"/>
            <a:ext cx="1371600" cy="18288"/>
          </a:xfrm>
          <a:prstGeom prst="rect">
            <a:avLst/>
          </a:prstGeom>
          <a:solidFill>
            <a:srgbClr val="54823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BF8F00"/>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13  ·  Planning</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The Benefits of Project Planning</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Planning Phase Helps You</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Document scope, tasks, milestones, and budget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Set a realistic schedule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Identify risks before they happen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Align the team and stakeholders on expectations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Create a roadmap for execution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What Goes Into a Project Plan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Tasks and milestones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Assigned team members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Documentation and resources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Timeline and deadlines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Lack of planning is one of the top causes of project failure.</a:t>
            </a:r>
            <a:endParaRPr lang="en-US" sz="1300" dirty="0"/>
          </a:p>
        </p:txBody>
      </p:sp>
      <p:sp>
        <p:nvSpPr>
          <p:cNvPr id="6" name="Shape 4"/>
          <p:cNvSpPr/>
          <p:nvPr/>
        </p:nvSpPr>
        <p:spPr>
          <a:xfrm>
            <a:off x="548640" y="6126480"/>
            <a:ext cx="1371600" cy="18288"/>
          </a:xfrm>
          <a:prstGeom prst="rect">
            <a:avLst/>
          </a:prstGeom>
          <a:solidFill>
            <a:srgbClr val="BF8F00"/>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BF8F00"/>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14  ·  Planning</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Project Planning for Beginners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five core elements of a project plan: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Tasks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Activities that need to be completed within a set time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Milestones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Important points that indicate progress or phase completion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People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Who is responsible for what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Documentation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Supporting materials, charters, contracts, requirements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Time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Estimates for each task and an overall schedule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At the center of every project plan is the schedule — your guide for time estimates, milestone tracking, and overall project progress.</a:t>
            </a:r>
            <a:endParaRPr lang="en-US" sz="1300" dirty="0"/>
          </a:p>
        </p:txBody>
      </p:sp>
      <p:sp>
        <p:nvSpPr>
          <p:cNvPr id="6" name="Shape 4"/>
          <p:cNvSpPr/>
          <p:nvPr/>
        </p:nvSpPr>
        <p:spPr>
          <a:xfrm>
            <a:off x="548640" y="6126480"/>
            <a:ext cx="1371600" cy="18288"/>
          </a:xfrm>
          <a:prstGeom prst="rect">
            <a:avLst/>
          </a:prstGeom>
          <a:solidFill>
            <a:srgbClr val="BF8F00"/>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BF8F00"/>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15  ·  Planning</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Building a Project Plan</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Project plans can be built in a spreadsheet with the following approach:</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Review the project charter goals and deliverables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List all tasks associated with each deliverable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Identify milestones within that task list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Estimate time for each task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Assign owners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Track progress continuously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Starting Point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Ask yourself for each deliverable: "What steps do we need to take to achieve this?" Those steps become your tasks.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Analyze emails, old project plans, and stakeholder conversations to uncover additional tasks you may have missed.</a:t>
            </a:r>
            <a:endParaRPr lang="en-US" sz="1300" dirty="0"/>
          </a:p>
        </p:txBody>
      </p:sp>
      <p:sp>
        <p:nvSpPr>
          <p:cNvPr id="6" name="Shape 4"/>
          <p:cNvSpPr/>
          <p:nvPr/>
        </p:nvSpPr>
        <p:spPr>
          <a:xfrm>
            <a:off x="548640" y="6126480"/>
            <a:ext cx="1371600" cy="18288"/>
          </a:xfrm>
          <a:prstGeom prst="rect">
            <a:avLst/>
          </a:prstGeom>
          <a:solidFill>
            <a:srgbClr val="BF8F00"/>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BF8F00"/>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16  ·  Planning</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Negotiating with Stakeholders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Strong project plans require buy-in. Key negotiation principles: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Understand what stakeholders truly need, not just what they ask for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Be transparent about constraints (time, budget, scope)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Offer alternatives when you cannot deliver exactly what is requested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Document all agreements to avoid misunderstandings later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Revisit the plan if circumstances change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Empathy is a negotiation tool.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When you understand the stakeholder's underlying goal, you can find creative solutions that work for everyone.</a:t>
            </a:r>
            <a:endParaRPr lang="en-US" sz="1300" dirty="0"/>
          </a:p>
        </p:txBody>
      </p:sp>
      <p:sp>
        <p:nvSpPr>
          <p:cNvPr id="6" name="Shape 4"/>
          <p:cNvSpPr/>
          <p:nvPr/>
        </p:nvSpPr>
        <p:spPr>
          <a:xfrm>
            <a:off x="548640" y="6126480"/>
            <a:ext cx="1371600" cy="18288"/>
          </a:xfrm>
          <a:prstGeom prst="rect">
            <a:avLst/>
          </a:prstGeom>
          <a:solidFill>
            <a:srgbClr val="BF8F00"/>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BF8F00"/>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17  ·  Planning</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How to Create a Project Budget</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 project budget is the estimated monetary resources needed to achieve the project's goals and objectives.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Budget Components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Labor costs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Materials and supplies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Software and tools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Vendor and contractor fees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Contingency reserves for unexpected costs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Budgeting Steps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Break down costs by milestone and deliverable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Use historical data from similar projects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Get estimates from vendors and team members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Build in a buffer for risk</a:t>
            </a:r>
            <a:endParaRPr lang="en-US" sz="1300" dirty="0"/>
          </a:p>
        </p:txBody>
      </p:sp>
      <p:sp>
        <p:nvSpPr>
          <p:cNvPr id="6" name="Shape 4"/>
          <p:cNvSpPr/>
          <p:nvPr/>
        </p:nvSpPr>
        <p:spPr>
          <a:xfrm>
            <a:off x="548640" y="6126480"/>
            <a:ext cx="1371600" cy="18288"/>
          </a:xfrm>
          <a:prstGeom prst="rect">
            <a:avLst/>
          </a:prstGeom>
          <a:solidFill>
            <a:srgbClr val="BF8F00"/>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BF8F00"/>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18  ·  Planning</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Risk Management Basics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Risk is any potential event that could impact the project positively or negatively.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Risk Management Process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Identify risks — brainstorm what could go wrong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Assess likelihood and impact of each risk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Prioritize risks that are both likely and high impact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Create a mitigation plan for top risks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Monitor risks throughout the project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Types of Risks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Schedule risks (delays)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Budget risks (cost overruns)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Scope risks (uncontrolled changes)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Resource risks (people leaving, unavailability)</a:t>
            </a:r>
            <a:endParaRPr lang="en-US" sz="1300" dirty="0"/>
          </a:p>
        </p:txBody>
      </p:sp>
      <p:sp>
        <p:nvSpPr>
          <p:cNvPr id="6" name="Shape 4"/>
          <p:cNvSpPr/>
          <p:nvPr/>
        </p:nvSpPr>
        <p:spPr>
          <a:xfrm>
            <a:off x="548640" y="6126480"/>
            <a:ext cx="1371600" cy="18288"/>
          </a:xfrm>
          <a:prstGeom prst="rect">
            <a:avLst/>
          </a:prstGeom>
          <a:solidFill>
            <a:srgbClr val="BF8F00"/>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BF8F00"/>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19  ·  Planning</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Resources and Tools to Manage Your Project</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Project Resources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Budget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People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Materials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Common Project Management Tools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Planning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Google Sheets, Excel spreadsheets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Work Management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Asana, Jira, Trello</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Communication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Email, Slack, video conferencing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Collaboration</a:t>
            </a:r>
            <a:endParaRPr lang="en-US" sz="1300" dirty="0"/>
          </a:p>
        </p:txBody>
      </p:sp>
      <p:sp>
        <p:nvSpPr>
          <p:cNvPr id="6" name="Shape 4"/>
          <p:cNvSpPr/>
          <p:nvPr/>
        </p:nvSpPr>
        <p:spPr>
          <a:xfrm>
            <a:off x="548640" y="6126480"/>
            <a:ext cx="1371600" cy="18288"/>
          </a:xfrm>
          <a:prstGeom prst="rect">
            <a:avLst/>
          </a:prstGeom>
          <a:solidFill>
            <a:srgbClr val="BF8F00"/>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BF8F00"/>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20  ·  Planning</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The Project Communication Plan</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 Communication Plan Outlines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Who needs to receive information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What type of information they need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How often they need it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Through which channel (email, meeting, report)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Who is responsible for sending it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Why Communication Plans Matter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Prevents missed updates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Ensures everyone knows what is happening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Reduces confusion and rework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Helps manage stakeholder expectations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Communication is arguably the most important tool in project management. Most project failures involve a communication breakdown.</a:t>
            </a:r>
            <a:endParaRPr lang="en-US" sz="1300" dirty="0"/>
          </a:p>
        </p:txBody>
      </p:sp>
      <p:sp>
        <p:nvSpPr>
          <p:cNvPr id="6" name="Shape 4"/>
          <p:cNvSpPr/>
          <p:nvPr/>
        </p:nvSpPr>
        <p:spPr>
          <a:xfrm>
            <a:off x="548640" y="6126480"/>
            <a:ext cx="1371600" cy="18288"/>
          </a:xfrm>
          <a:prstGeom prst="rect">
            <a:avLst/>
          </a:prstGeom>
          <a:solidFill>
            <a:srgbClr val="BF8F00"/>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BF8F00"/>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21  ·  Planning</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Communicate Effectively as a Project Manager</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90%</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of a PM's time is spent on communication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Effective Communication Is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Clear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Honest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Relevant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Frequent but not excessive (avoid information overload)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Communication Channels to Master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Email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Keep it concise, clear subject lines, appropriate recipients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Meetings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Structured, intentional, agenda-driven</a:t>
            </a:r>
            <a:endParaRPr lang="en-US" sz="1300" dirty="0"/>
          </a:p>
        </p:txBody>
      </p:sp>
      <p:sp>
        <p:nvSpPr>
          <p:cNvPr id="6" name="Shape 4"/>
          <p:cNvSpPr/>
          <p:nvPr/>
        </p:nvSpPr>
        <p:spPr>
          <a:xfrm>
            <a:off x="548640" y="6126480"/>
            <a:ext cx="1371600" cy="18288"/>
          </a:xfrm>
          <a:prstGeom prst="rect">
            <a:avLst/>
          </a:prstGeom>
          <a:solidFill>
            <a:srgbClr val="BF8F00"/>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BF8F00"/>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22  ·  Planning</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How to Run a Successful Meeting</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four elements of an effective meeting: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Structured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Starts and ends on time, topics are prioritized, a notetaker is assigned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Intentional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Has a clear purpose and a prepared agenda</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Collaborative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Participants are encouraged to contribute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Inclusive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right people are invited, and everyone has a chance to speak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Send the agenda in advance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Only invite people who need to be there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Assign action items with owners and deadlines</a:t>
            </a:r>
            <a:endParaRPr lang="en-US" sz="1300" dirty="0"/>
          </a:p>
        </p:txBody>
      </p:sp>
      <p:sp>
        <p:nvSpPr>
          <p:cNvPr id="6" name="Shape 4"/>
          <p:cNvSpPr/>
          <p:nvPr/>
        </p:nvSpPr>
        <p:spPr>
          <a:xfrm>
            <a:off x="548640" y="6126480"/>
            <a:ext cx="1371600" cy="18288"/>
          </a:xfrm>
          <a:prstGeom prst="rect">
            <a:avLst/>
          </a:prstGeom>
          <a:solidFill>
            <a:srgbClr val="BF8F00"/>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BF8F00"/>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23  ·  Planning</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How to Organize Effective Meetings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Pre-Meeting Preparation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Define the purpose of the meeting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Build an agenda</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Share the agenda with attendees beforehand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Book the right time and location (or video link)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During the Meeting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Stick to the agenda</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Manage time actively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Record decisions and action items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After the Meeting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Send a summary with action items, owners, and due dates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Follow up on unresolved items</a:t>
            </a:r>
            <a:endParaRPr lang="en-US" sz="1300" dirty="0"/>
          </a:p>
        </p:txBody>
      </p:sp>
      <p:sp>
        <p:nvSpPr>
          <p:cNvPr id="6" name="Shape 4"/>
          <p:cNvSpPr/>
          <p:nvPr/>
        </p:nvSpPr>
        <p:spPr>
          <a:xfrm>
            <a:off x="548640" y="6126480"/>
            <a:ext cx="1371600" cy="18288"/>
          </a:xfrm>
          <a:prstGeom prst="rect">
            <a:avLst/>
          </a:prstGeom>
          <a:solidFill>
            <a:srgbClr val="BF8F00"/>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C55A11"/>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24  ·  Execution</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Project Tracking Methods and Examples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During execution, project managers track progress to ensure the project stays on course.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Gantt Chart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Visual timeline showing tasks, durations, and dependencies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Kanban Board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Visual board with columns for To Do, In Progress, and Done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Burndown Chart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Tracks how much work remains versus time available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Status Reports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Regular written updates shared with stakeholders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tracking method you choose should match the complexity of the project and the needs of your team and stakeholders.</a:t>
            </a:r>
            <a:endParaRPr lang="en-US" sz="1300" dirty="0"/>
          </a:p>
        </p:txBody>
      </p:sp>
      <p:sp>
        <p:nvSpPr>
          <p:cNvPr id="6" name="Shape 4"/>
          <p:cNvSpPr/>
          <p:nvPr/>
        </p:nvSpPr>
        <p:spPr>
          <a:xfrm>
            <a:off x="548640" y="6126480"/>
            <a:ext cx="1371600" cy="18288"/>
          </a:xfrm>
          <a:prstGeom prst="rect">
            <a:avLst/>
          </a:prstGeom>
          <a:solidFill>
            <a:srgbClr val="C55A11"/>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C55A11"/>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25  ·  Execution</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Effective Project Management During Execution</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During execution, a project manager's focus shifts to:</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Keeping the team on track and unblocked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Managing risks as they arise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Maintaining open communication with stakeholders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Monitoring scope, schedule, and budget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Updating the project plan as things change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Key Principle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project plan is a living document. It should be updated whenever there is a significant change to scope, schedule, or budget, with all changes clearly communicated to the team.</a:t>
            </a:r>
            <a:endParaRPr lang="en-US" sz="1300" dirty="0"/>
          </a:p>
        </p:txBody>
      </p:sp>
      <p:sp>
        <p:nvSpPr>
          <p:cNvPr id="6" name="Shape 4"/>
          <p:cNvSpPr/>
          <p:nvPr/>
        </p:nvSpPr>
        <p:spPr>
          <a:xfrm>
            <a:off x="548640" y="6126480"/>
            <a:ext cx="1371600" cy="18288"/>
          </a:xfrm>
          <a:prstGeom prst="rect">
            <a:avLst/>
          </a:prstGeom>
          <a:solidFill>
            <a:srgbClr val="C55A11"/>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C55A11"/>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26  ·  Execution</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Leadership vs Management in a Successful Team</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Management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Focuses on the logistics — tasks, schedules, budgets, processes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Leadership</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Focuses on people — inspiring, motivating, supporting, and empowering the team</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Together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best PMs handle logistics while creating an environment where people do their best work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 team is a group of people who plan, solve problems, make decisions, and review their progress together to achieve a common goal.</a:t>
            </a:r>
            <a:endParaRPr lang="en-US" sz="1300" dirty="0"/>
          </a:p>
        </p:txBody>
      </p:sp>
      <p:sp>
        <p:nvSpPr>
          <p:cNvPr id="6" name="Shape 4"/>
          <p:cNvSpPr/>
          <p:nvPr/>
        </p:nvSpPr>
        <p:spPr>
          <a:xfrm>
            <a:off x="548640" y="6126480"/>
            <a:ext cx="1371600" cy="18288"/>
          </a:xfrm>
          <a:prstGeom prst="rect">
            <a:avLst/>
          </a:prstGeom>
          <a:solidFill>
            <a:srgbClr val="C55A11"/>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C55A11"/>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27  ·  Execution</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How Project Managers Improve Team Effectiveness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Strong Teams Share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Clear roles and responsibilities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Psychological safety to speak up</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Shared understanding of goals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Trust between members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Effective conflict resolution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How PMs Build Effectiveness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Hold regular team meetings and check-ins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Celebrate wins and acknowledge contributions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Address conflict early before it escalates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Remove obstacles blocking team progress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Advocate for the team's needs with upper management</a:t>
            </a:r>
            <a:endParaRPr lang="en-US" sz="1300" dirty="0"/>
          </a:p>
        </p:txBody>
      </p:sp>
      <p:sp>
        <p:nvSpPr>
          <p:cNvPr id="6" name="Shape 4"/>
          <p:cNvSpPr/>
          <p:nvPr/>
        </p:nvSpPr>
        <p:spPr>
          <a:xfrm>
            <a:off x="548640" y="6126480"/>
            <a:ext cx="1371600" cy="18288"/>
          </a:xfrm>
          <a:prstGeom prst="rect">
            <a:avLst/>
          </a:prstGeom>
          <a:solidFill>
            <a:srgbClr val="C55A11"/>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C55A11"/>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28  ·  Execution</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How Project Managers Can Influence Those Around Them</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Influencing is the ability to alter another person's thinking or behaviors without direct authority.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Four Steps of Effective Influence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Establish Credibility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Show expertise and trustworthiness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Frame for Common Ground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Show how your idea benefits them</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Provide Evidence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Use data and examples to support your case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Connect Emotionally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Make the case resonate on a personal level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Influence is a critical skill for project managers who often need to motivate people who do not report to them directly.</a:t>
            </a:r>
            <a:endParaRPr lang="en-US" sz="1300" dirty="0"/>
          </a:p>
        </p:txBody>
      </p:sp>
      <p:sp>
        <p:nvSpPr>
          <p:cNvPr id="6" name="Shape 4"/>
          <p:cNvSpPr/>
          <p:nvPr/>
        </p:nvSpPr>
        <p:spPr>
          <a:xfrm>
            <a:off x="548640" y="6126480"/>
            <a:ext cx="1371600" cy="18288"/>
          </a:xfrm>
          <a:prstGeom prst="rect">
            <a:avLst/>
          </a:prstGeom>
          <a:solidFill>
            <a:srgbClr val="C55A11"/>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C55A11"/>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29  ·  Execution</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How Project Managers Can Build Customer Satisfaction</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Customer satisfaction is a key measure of project success.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Strategies for Strong Customer Relationships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Communicate proactively and transparently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Set realistic expectations from the start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Deliver on your commitments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Involve the customer early and often in decisions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Follow up after delivery to ensure ongoing satisfaction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Soft Skills to Practice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Negotiation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Finding solutions that work for both sides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Empathetic Listening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Understanding what the customer truly wants</a:t>
            </a:r>
            <a:endParaRPr lang="en-US" sz="1300" dirty="0"/>
          </a:p>
        </p:txBody>
      </p:sp>
      <p:sp>
        <p:nvSpPr>
          <p:cNvPr id="6" name="Shape 4"/>
          <p:cNvSpPr/>
          <p:nvPr/>
        </p:nvSpPr>
        <p:spPr>
          <a:xfrm>
            <a:off x="548640" y="6126480"/>
            <a:ext cx="1371600" cy="18288"/>
          </a:xfrm>
          <a:prstGeom prst="rect">
            <a:avLst/>
          </a:prstGeom>
          <a:solidFill>
            <a:srgbClr val="C55A11"/>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C55A11"/>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30  ·  Execution</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Quality Management and Continuous Improvement</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Quality means fulfilling the outlined requirements for the deliverable and meeting or exceeding the needs and expectations of your customer.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Triple Constraint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Scope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What the project includes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Time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When it will be delivered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Budget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What it will cost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If any one element suffers, overall quality suffers too.</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Continuous Improvement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An ongoing effort to improve products, processes, or services. It involves recognizing what needs to change, planning for it, and implementing improvements.</a:t>
            </a:r>
            <a:endParaRPr lang="en-US" sz="1300" dirty="0"/>
          </a:p>
        </p:txBody>
      </p:sp>
      <p:sp>
        <p:nvSpPr>
          <p:cNvPr id="6" name="Shape 4"/>
          <p:cNvSpPr/>
          <p:nvPr/>
        </p:nvSpPr>
        <p:spPr>
          <a:xfrm>
            <a:off x="548640" y="6126480"/>
            <a:ext cx="1371600" cy="18288"/>
          </a:xfrm>
          <a:prstGeom prst="rect">
            <a:avLst/>
          </a:prstGeom>
          <a:solidFill>
            <a:srgbClr val="C55A11"/>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C55A11"/>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31  ·  Execution</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Understanding Project Success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 project is successful when it achieves its goals, is delivered on time and within budget, and meets quality standards expected by the customer.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Measuring Success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On-time delivery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Within or under budget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Deliverables meet quality criteria</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Stakeholder satisfaction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Goals and objectives achieved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Defining Success Criteria</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Success criteria must be agreed upon at the beginning of the project. If you wait until the end, stakeholders may disagree about what "success" actually means.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Key Question to Ask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"How will we know when this project is done and successful?"</a:t>
            </a:r>
            <a:endParaRPr lang="en-US" sz="1300" dirty="0"/>
          </a:p>
        </p:txBody>
      </p:sp>
      <p:sp>
        <p:nvSpPr>
          <p:cNvPr id="6" name="Shape 4"/>
          <p:cNvSpPr/>
          <p:nvPr/>
        </p:nvSpPr>
        <p:spPr>
          <a:xfrm>
            <a:off x="548640" y="6126480"/>
            <a:ext cx="1371600" cy="18288"/>
          </a:xfrm>
          <a:prstGeom prst="rect">
            <a:avLst/>
          </a:prstGeom>
          <a:solidFill>
            <a:srgbClr val="C55A11"/>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C55A11"/>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32  ·  Execution</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Using Data to Tell a Story</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Data storytelling transforms raw numbers into meaningful insights that drive decisions and influence stakeholders.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Six Steps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Define the audience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Collect the right data</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Filter by what matters most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Choose the right visualization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Shape the narrative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Deliver the story clearly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Good data storytelling answers: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What happened? Why did it happen? What should we do about it?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Tailor your presentation of data to what your audience cares about and how they make decisions.</a:t>
            </a:r>
            <a:endParaRPr lang="en-US" sz="1300" dirty="0"/>
          </a:p>
        </p:txBody>
      </p:sp>
      <p:sp>
        <p:nvSpPr>
          <p:cNvPr id="6" name="Shape 4"/>
          <p:cNvSpPr/>
          <p:nvPr/>
        </p:nvSpPr>
        <p:spPr>
          <a:xfrm>
            <a:off x="548640" y="6126480"/>
            <a:ext cx="1371600" cy="18288"/>
          </a:xfrm>
          <a:prstGeom prst="rect">
            <a:avLst/>
          </a:prstGeom>
          <a:solidFill>
            <a:srgbClr val="C55A11"/>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7030A0"/>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33  ·  Closing</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The Steps of the Project Closing Process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Project closing is the formal completion and handoff of the project. Skipping it causes confusion and missed learning opportunities.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Confirm Completion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Ensure all deliverables are done and approved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Release Resources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Free team members and materials for future projects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Lessons Learned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Conduct a retrospective to capture what went well and what could be improved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Archive Documents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Store all project documentation for future reference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Closing formally is not just a formality. It validates all the work done and ensures the customer signs off before resources are dispersed.</a:t>
            </a:r>
            <a:endParaRPr lang="en-US" sz="1300" dirty="0"/>
          </a:p>
        </p:txBody>
      </p:sp>
      <p:sp>
        <p:nvSpPr>
          <p:cNvPr id="6" name="Shape 4"/>
          <p:cNvSpPr/>
          <p:nvPr/>
        </p:nvSpPr>
        <p:spPr>
          <a:xfrm>
            <a:off x="548640" y="6126480"/>
            <a:ext cx="1371600" cy="18288"/>
          </a:xfrm>
          <a:prstGeom prst="rect">
            <a:avLst/>
          </a:prstGeom>
          <a:solidFill>
            <a:srgbClr val="7030A0"/>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7030A0"/>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34  ·  Closing</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How to Prepare a Project Closeout Report</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What to Include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Executive summary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Key accomplishments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Lessons learned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Metrics — budget, schedule, quality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Recommendations for future projects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Purpose of the Closeout Report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It creates a historical record of the project — what was planned vs. what actually happened. Future project managers can use it as a reference, so the same mistakes are not repeated and successful approaches are replicated.</a:t>
            </a:r>
            <a:endParaRPr lang="en-US" sz="1300" dirty="0"/>
          </a:p>
        </p:txBody>
      </p:sp>
      <p:sp>
        <p:nvSpPr>
          <p:cNvPr id="6" name="Shape 4"/>
          <p:cNvSpPr/>
          <p:nvPr/>
        </p:nvSpPr>
        <p:spPr>
          <a:xfrm>
            <a:off x="548640" y="6126480"/>
            <a:ext cx="1371600" cy="18288"/>
          </a:xfrm>
          <a:prstGeom prst="rect">
            <a:avLst/>
          </a:prstGeom>
          <a:solidFill>
            <a:srgbClr val="7030A0"/>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1E1E1E"/>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35  ·  Section Intro</a:t>
            </a:r>
            <a:endParaRPr lang="en-US" sz="900" dirty="0"/>
          </a:p>
        </p:txBody>
      </p:sp>
      <p:sp>
        <p:nvSpPr>
          <p:cNvPr id="4" name="Text 2"/>
          <p:cNvSpPr/>
          <p:nvPr/>
        </p:nvSpPr>
        <p:spPr>
          <a:xfrm>
            <a:off x="548640" y="2286000"/>
            <a:ext cx="8046720" cy="1097280"/>
          </a:xfrm>
          <a:prstGeom prst="rect">
            <a:avLst/>
          </a:prstGeom>
          <a:noFill/>
          <a:ln/>
        </p:spPr>
        <p:txBody>
          <a:bodyPr wrap="square" rtlCol="0" anchor="ctr"/>
          <a:lstStyle/>
          <a:p>
            <a:pPr algn="l" indent="0" marL="0">
              <a:buNone/>
            </a:pPr>
            <a:r>
              <a:rPr lang="en-US" sz="3600" b="1" dirty="0">
                <a:solidFill>
                  <a:srgbClr val="F5F5F0"/>
                </a:solidFill>
                <a:latin typeface="Inter" pitchFamily="34" charset="0"/>
                <a:ea typeface="Inter" pitchFamily="34" charset="-122"/>
                <a:cs typeface="Inter" pitchFamily="34" charset="-120"/>
              </a:rPr>
              <a:t>Agile &amp;amp; Scrum</a:t>
            </a:r>
            <a:endParaRPr lang="en-US" sz="3600" dirty="0"/>
          </a:p>
        </p:txBody>
      </p:sp>
      <p:sp>
        <p:nvSpPr>
          <p:cNvPr id="5" name="Text 3"/>
          <p:cNvSpPr/>
          <p:nvPr/>
        </p:nvSpPr>
        <p:spPr>
          <a:xfrm>
            <a:off x="548640" y="3474720"/>
            <a:ext cx="8046720" cy="548640"/>
          </a:xfrm>
          <a:prstGeom prst="rect">
            <a:avLst/>
          </a:prstGeom>
          <a:noFill/>
          <a:ln/>
        </p:spPr>
        <p:txBody>
          <a:bodyPr wrap="square" rtlCol="0" anchor="ctr"/>
          <a:lstStyle/>
          <a:p>
            <a:pPr indent="0" marL="0">
              <a:buNone/>
            </a:pPr>
            <a:r>
              <a:rPr lang="en-US" sz="1600" dirty="0">
                <a:solidFill>
                  <a:srgbClr val="888888"/>
                </a:solidFill>
                <a:latin typeface="Inter" pitchFamily="34" charset="0"/>
                <a:ea typeface="Inter" pitchFamily="34" charset="-122"/>
                <a:cs typeface="Inter" pitchFamily="34" charset="-120"/>
              </a:rPr>
              <a:t>Section 4 of 5 · Course Overview</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2E75B6"/>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36  ·  Agile</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Intro to Agile</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Agile is an iterative approach to project management and software development that helps teams deliver value to their customers faster and with fewer headaches.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Agile vs Waterfall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Waterfall is linear — phases are completed sequentially before moving 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Agile is iterative — work is done in short cycles, with constant feedback and adjustment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Agile Values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Individuals and interactions over processes and tools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Working software over comprehensive documentation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Customer collaboration over contract negotiation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Responding to change over following a plan</a:t>
            </a:r>
            <a:endParaRPr lang="en-US" sz="1300" dirty="0"/>
          </a:p>
        </p:txBody>
      </p:sp>
      <p:sp>
        <p:nvSpPr>
          <p:cNvPr id="6" name="Shape 4"/>
          <p:cNvSpPr/>
          <p:nvPr/>
        </p:nvSpPr>
        <p:spPr>
          <a:xfrm>
            <a:off x="548640" y="6126480"/>
            <a:ext cx="1371600" cy="18288"/>
          </a:xfrm>
          <a:prstGeom prst="rect">
            <a:avLst/>
          </a:prstGeom>
          <a:solidFill>
            <a:srgbClr val="2E75B6"/>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2E75B6"/>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37  ·  Agile</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The Agile Manifesto</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Published in 2001 by 17 software developers. The four core values: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Individuals and Interactions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over processes and tools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Working Software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over comprehensive documentation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Customer Collaboration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over contract negotiation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Responding to Change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over following a plan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left side is valued MORE — but this doesn't mean the right side has no value.</a:t>
            </a:r>
            <a:endParaRPr lang="en-US" sz="1300" dirty="0"/>
          </a:p>
        </p:txBody>
      </p:sp>
      <p:sp>
        <p:nvSpPr>
          <p:cNvPr id="6" name="Shape 4"/>
          <p:cNvSpPr/>
          <p:nvPr/>
        </p:nvSpPr>
        <p:spPr>
          <a:xfrm>
            <a:off x="548640" y="6126480"/>
            <a:ext cx="1371600" cy="18288"/>
          </a:xfrm>
          <a:prstGeom prst="rect">
            <a:avLst/>
          </a:prstGeom>
          <a:solidFill>
            <a:srgbClr val="2E75B6"/>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2E75B6"/>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38  ·  Agile</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The 12 Agile Principles (Summary)</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Agile Manifesto contains 12 guiding principles for software development and project delivery: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Early, continuous delivery of valuable software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Welcome changing requirements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Deliver working software frequently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Business and developers collaborate daily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Build projects around motivated individuals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Face-to-face conversation is most effective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Working software is the primary measure of progress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Sustainable development pace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Continuous attention to technical excellence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Simplicity — maximizing work not done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Best architectures emerge from self-organizing teams</a:t>
            </a:r>
            <a:endParaRPr lang="en-US" sz="1300" dirty="0"/>
          </a:p>
        </p:txBody>
      </p:sp>
      <p:sp>
        <p:nvSpPr>
          <p:cNvPr id="6" name="Shape 4"/>
          <p:cNvSpPr/>
          <p:nvPr/>
        </p:nvSpPr>
        <p:spPr>
          <a:xfrm>
            <a:off x="548640" y="6126480"/>
            <a:ext cx="1371600" cy="18288"/>
          </a:xfrm>
          <a:prstGeom prst="rect">
            <a:avLst/>
          </a:prstGeom>
          <a:solidFill>
            <a:srgbClr val="2E75B6"/>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2E75B6"/>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39  ·  Agile</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VUCA and Agile Advantages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VUCA Environment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Volatile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Things change rapidly and unpredictably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Uncertain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future is difficult to predict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Complex</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Many interconnected factors affect decisions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Ambiguous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Situations are unclear and hard to interpret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Why Agile Works in VUCA Environments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Short iterations allow quick course correction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Continuous feedback reveals problems early</a:t>
            </a:r>
            <a:endParaRPr lang="en-US" sz="1300" dirty="0"/>
          </a:p>
        </p:txBody>
      </p:sp>
      <p:sp>
        <p:nvSpPr>
          <p:cNvPr id="6" name="Shape 4"/>
          <p:cNvSpPr/>
          <p:nvPr/>
        </p:nvSpPr>
        <p:spPr>
          <a:xfrm>
            <a:off x="548640" y="6126480"/>
            <a:ext cx="1371600" cy="18288"/>
          </a:xfrm>
          <a:prstGeom prst="rect">
            <a:avLst/>
          </a:prstGeom>
          <a:solidFill>
            <a:srgbClr val="2E75B6"/>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2E75B6"/>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40  ·  Agile</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Popular Agile Frameworks and Methodologies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Scrum</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Sprint-based framework with defined roles, events, and artifacts. Most popular Agile implementation.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Kanban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Visual workflow system that limits work in progress (WIP) and improves flow.</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XP (Extreme Programming)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Software-focused Agile with practices like pair programming and test-driven development.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Lean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Focuses on eliminating waste and maximizing customer value delivery.</a:t>
            </a:r>
            <a:endParaRPr lang="en-US" sz="1300" dirty="0"/>
          </a:p>
        </p:txBody>
      </p:sp>
      <p:sp>
        <p:nvSpPr>
          <p:cNvPr id="6" name="Shape 4"/>
          <p:cNvSpPr/>
          <p:nvPr/>
        </p:nvSpPr>
        <p:spPr>
          <a:xfrm>
            <a:off x="548640" y="6126480"/>
            <a:ext cx="1371600" cy="18288"/>
          </a:xfrm>
          <a:prstGeom prst="rect">
            <a:avLst/>
          </a:prstGeom>
          <a:solidFill>
            <a:srgbClr val="2E75B6"/>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2E75B6"/>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41  ·  Agile</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Lean's 5 Core Principles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Lean originated in manufacturing at Toyota and focuses on eliminating waste and delivering maximum customer value.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Define Value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Identify what the customer considers valuable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Map the Value Stream</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Chart all steps that create or don't create value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Create Flow</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Remove obstacles so work flows smoothly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Establish Pull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Work is pulled based on actual customer demand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Pursue Perfection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Continuously improve to eliminate all waste</a:t>
            </a:r>
            <a:endParaRPr lang="en-US" sz="1300" dirty="0"/>
          </a:p>
        </p:txBody>
      </p:sp>
      <p:sp>
        <p:nvSpPr>
          <p:cNvPr id="6" name="Shape 4"/>
          <p:cNvSpPr/>
          <p:nvPr/>
        </p:nvSpPr>
        <p:spPr>
          <a:xfrm>
            <a:off x="548640" y="6126480"/>
            <a:ext cx="1371600" cy="18288"/>
          </a:xfrm>
          <a:prstGeom prst="rect">
            <a:avLst/>
          </a:prstGeom>
          <a:solidFill>
            <a:srgbClr val="2E75B6"/>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8431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42  ·  Scrum</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An Introduction to Scrum</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Scrum is a framework within which people can address complex adaptive problems, while productively and creatively delivering products of the highest possible value.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Scrum is Built 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Transparency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Inspection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Adaptation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Scrum Values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Courage · Focus · Commitment · Respect · Openness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Work Structure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Work is done in short, fixed-length iterations called Sprints (1–4 weeks each)</a:t>
            </a:r>
            <a:endParaRPr lang="en-US" sz="1300" dirty="0"/>
          </a:p>
        </p:txBody>
      </p:sp>
      <p:sp>
        <p:nvSpPr>
          <p:cNvPr id="6" name="Shape 4"/>
          <p:cNvSpPr/>
          <p:nvPr/>
        </p:nvSpPr>
        <p:spPr>
          <a:xfrm>
            <a:off x="548640" y="6126480"/>
            <a:ext cx="1371600" cy="18288"/>
          </a:xfrm>
          <a:prstGeom prst="rect">
            <a:avLst/>
          </a:prstGeom>
          <a:solidFill>
            <a:srgbClr val="D8431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8431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43  ·  Scrum</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The Three Scrum Roles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Each person on a Scrum team has a distinct role with unique responsibilities: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Product Owner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Represents the customer's voice. Owns and prioritizes the Product Backlog. Ensures the team builds the right thing. Decides what gets done in each Sprint.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Scrum Master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Serves the team as a coach. Facilitates Scrum events. Removes impediments. Helps the team improve. Is NOT a traditional project manager.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Development Team</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Cross-functional group that builds the product. Self-organizing. Typically 3–9 people. Responsible for delivering a potentially shippable product increment every Sprint.</a:t>
            </a:r>
            <a:endParaRPr lang="en-US" sz="1300" dirty="0"/>
          </a:p>
        </p:txBody>
      </p:sp>
      <p:sp>
        <p:nvSpPr>
          <p:cNvPr id="6" name="Shape 4"/>
          <p:cNvSpPr/>
          <p:nvPr/>
        </p:nvSpPr>
        <p:spPr>
          <a:xfrm>
            <a:off x="548640" y="6126480"/>
            <a:ext cx="1371600" cy="18288"/>
          </a:xfrm>
          <a:prstGeom prst="rect">
            <a:avLst/>
          </a:prstGeom>
          <a:solidFill>
            <a:srgbClr val="D8431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8431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44  ·  Scrum</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The Five Scrum Events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Each Sprint contains five formal events: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Sprint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1–4 week fixed iteration where the team creates a product increment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Sprint Planning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Team selects work from the backlog and defines the Sprint Goal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Daily Scrum</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Daily 15-minute standup: What did you do? What will you do? Any blockers?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Sprint Review</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Team demos completed work to stakeholders and gathers feedback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Sprint Retrospective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Team reflects on how to improve processes for the next Sprint</a:t>
            </a:r>
            <a:endParaRPr lang="en-US" sz="1300" dirty="0"/>
          </a:p>
        </p:txBody>
      </p:sp>
      <p:sp>
        <p:nvSpPr>
          <p:cNvPr id="6" name="Shape 4"/>
          <p:cNvSpPr/>
          <p:nvPr/>
        </p:nvSpPr>
        <p:spPr>
          <a:xfrm>
            <a:off x="548640" y="6126480"/>
            <a:ext cx="1371600" cy="18288"/>
          </a:xfrm>
          <a:prstGeom prst="rect">
            <a:avLst/>
          </a:prstGeom>
          <a:solidFill>
            <a:srgbClr val="D8431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8431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45  ·  Scrum</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The Product Backlog</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What Is a Product Backlog?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An ordered list of everything that might be needed in the product. It is the single source of truth for what the team will work on. The Product Owner owns and prioritizes it.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Backlog Items Include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User stories (new features from user perspective)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Bug fixes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Technical improvements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Research and exploration tasks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User Story Format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"As a [type of user], I want to [action], so that [benefit]."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backlog is never fully done — it evolves as the product and team learn more about customer needs.</a:t>
            </a:r>
            <a:endParaRPr lang="en-US" sz="1300" dirty="0"/>
          </a:p>
        </p:txBody>
      </p:sp>
      <p:sp>
        <p:nvSpPr>
          <p:cNvPr id="6" name="Shape 4"/>
          <p:cNvSpPr/>
          <p:nvPr/>
        </p:nvSpPr>
        <p:spPr>
          <a:xfrm>
            <a:off x="548640" y="6126480"/>
            <a:ext cx="1371600" cy="18288"/>
          </a:xfrm>
          <a:prstGeom prst="rect">
            <a:avLst/>
          </a:prstGeom>
          <a:solidFill>
            <a:srgbClr val="D8431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8431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46  ·  Scrum</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Backlog Management and Refinement</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Backlog refinement (or grooming) is the process of reviewing, ordering, and updating the backlog so it is ready for Sprint Planning.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During Refinement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Review and update backlog items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Clarify acceptance criteria</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Estimate the effort required for items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Remove or archive items that are no longer relevant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Adjust priorities based on new information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Story Point Estimation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Story points are a unit of measure for estimating the relative effort required to complete a user story. Common scales include the Fibonacci sequence (1, 2, 3, 5, 8, 13, 21).</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 well-refined backlog makes Sprint Planning faster and reduces confusion during execution.</a:t>
            </a:r>
            <a:endParaRPr lang="en-US" sz="1300" dirty="0"/>
          </a:p>
        </p:txBody>
      </p:sp>
      <p:sp>
        <p:nvSpPr>
          <p:cNvPr id="6" name="Shape 4"/>
          <p:cNvSpPr/>
          <p:nvPr/>
        </p:nvSpPr>
        <p:spPr>
          <a:xfrm>
            <a:off x="548640" y="6126480"/>
            <a:ext cx="1371600" cy="18288"/>
          </a:xfrm>
          <a:prstGeom prst="rect">
            <a:avLst/>
          </a:prstGeom>
          <a:solidFill>
            <a:srgbClr val="D8431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8431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47  ·  Scrum</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Agile Use Cases and Applicability</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Agile is not just for software — it can be applied to any project with a high degree of uncertainty or need for flexibility.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Agile Works Best When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Requirements are unclear or likely to change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Speed to market is critical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Customer feedback must be incorporated continuously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team is small, cross-functional, and self-organizing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Industries Using Agile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Software and technology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Marketing and creative agencies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Healthcare and pharmaceuticals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Financial services and banking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Education and non-profits</a:t>
            </a:r>
            <a:endParaRPr lang="en-US" sz="1300" dirty="0"/>
          </a:p>
        </p:txBody>
      </p:sp>
      <p:sp>
        <p:nvSpPr>
          <p:cNvPr id="6" name="Shape 4"/>
          <p:cNvSpPr/>
          <p:nvPr/>
        </p:nvSpPr>
        <p:spPr>
          <a:xfrm>
            <a:off x="548640" y="6126480"/>
            <a:ext cx="1371600" cy="18288"/>
          </a:xfrm>
          <a:prstGeom prst="rect">
            <a:avLst/>
          </a:prstGeom>
          <a:solidFill>
            <a:srgbClr val="D8431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8431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48  ·  Scrum</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When to Use Agile or Waterfall</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decision depends on the nature of the project and its environment: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Choose Waterfall When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Requirements are clear and stable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project is linear with predictable phases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Industry regulations require extensive documentation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Deliverables are fixed (construction, manufacturing)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Choose Agile When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Requirements are unclear or frequently changing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Speed and adaptability are critical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Continuous customer collaboration is possible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team is comfortable with iteration and ambiguity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Neither approach is universally superior. The best project managers know when to use which, and often blend both.</a:t>
            </a:r>
            <a:endParaRPr lang="en-US" sz="1300" dirty="0"/>
          </a:p>
        </p:txBody>
      </p:sp>
      <p:sp>
        <p:nvSpPr>
          <p:cNvPr id="6" name="Shape 4"/>
          <p:cNvSpPr/>
          <p:nvPr/>
        </p:nvSpPr>
        <p:spPr>
          <a:xfrm>
            <a:off x="548640" y="6126480"/>
            <a:ext cx="1371600" cy="18288"/>
          </a:xfrm>
          <a:prstGeom prst="rect">
            <a:avLst/>
          </a:prstGeom>
          <a:solidFill>
            <a:srgbClr val="D8431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8431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49  ·  Scrum</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Blending Methods: Hybrid Project Management</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Hybrid project management combines elements of both Agile and Waterfall to meet the unique needs of a project.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Common Hybrid Patterns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Waterfall Planning + Agile Execution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Use a waterfall approach to define scope and budget, then execute with Scrum sprints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Phase-gated with Sprints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Use formal phase gates for big decisions but run sprints within each phase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Agile with Fixed Milestones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Use sprints but align them with key delivery dates from a waterfall schedule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Right Mix</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There is no single "right" approach. The best project managers understand both methodologies deeply and adapt their approach to what the project actually needs.</a:t>
            </a:r>
            <a:endParaRPr lang="en-US" sz="1300" dirty="0"/>
          </a:p>
        </p:txBody>
      </p:sp>
      <p:sp>
        <p:nvSpPr>
          <p:cNvPr id="6" name="Shape 4"/>
          <p:cNvSpPr/>
          <p:nvPr/>
        </p:nvSpPr>
        <p:spPr>
          <a:xfrm>
            <a:off x="548640" y="6126480"/>
            <a:ext cx="1371600" cy="18288"/>
          </a:xfrm>
          <a:prstGeom prst="rect">
            <a:avLst/>
          </a:prstGeom>
          <a:solidFill>
            <a:srgbClr val="D8431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8431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50  ·  Scrum</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Value-Driven Delivery in Agile</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Agile teams are obsessed with delivering value — quickly and continuously — to the customer.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Key Concepts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Minimum Viable Product (MVP)</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smallest version of the product that delivers value to the customer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Iterative Delivery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Releasing small, working increments frequently rather than waiting for full completion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Continuous Feedback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Using real customer reactions to guide what gets built next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Why Value-Driven?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 traditional project management, value is delivered only at the end. Agile flips this — you deliver value early and often, which reduces risk and increases customer satisfaction throughout the project.</a:t>
            </a:r>
            <a:endParaRPr lang="en-US" sz="1300" dirty="0"/>
          </a:p>
        </p:txBody>
      </p:sp>
      <p:sp>
        <p:nvSpPr>
          <p:cNvPr id="6" name="Shape 4"/>
          <p:cNvSpPr/>
          <p:nvPr/>
        </p:nvSpPr>
        <p:spPr>
          <a:xfrm>
            <a:off x="548640" y="6126480"/>
            <a:ext cx="1371600" cy="18288"/>
          </a:xfrm>
          <a:prstGeom prst="rect">
            <a:avLst/>
          </a:prstGeom>
          <a:solidFill>
            <a:srgbClr val="D8431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8431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51  ·  Scrum</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The Value Roadmap</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An Agile way of mapping out the product development process. It gives the team direction and prioritizes features that deliver maximum value.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Three Key Components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Product Vision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Why the product exists and where it is headed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Product Roadmap</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High-level view of what will be built and when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Release Plan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Schedule for when features will be delivered to users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Value First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roadmap is not a promise — it is a plan. The Product Owner continuously updates it based on customer feedback, new information, and changing priorities to always ensure the team is building the most valuable things next.</a:t>
            </a:r>
            <a:endParaRPr lang="en-US" sz="1300" dirty="0"/>
          </a:p>
        </p:txBody>
      </p:sp>
      <p:sp>
        <p:nvSpPr>
          <p:cNvPr id="6" name="Shape 4"/>
          <p:cNvSpPr/>
          <p:nvPr/>
        </p:nvSpPr>
        <p:spPr>
          <a:xfrm>
            <a:off x="548640" y="6126480"/>
            <a:ext cx="1371600" cy="18288"/>
          </a:xfrm>
          <a:prstGeom prst="rect">
            <a:avLst/>
          </a:prstGeom>
          <a:solidFill>
            <a:srgbClr val="D8431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8431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52  ·  Scrum</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Agile Challenges and How to Overcome Them</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Common Challenges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Teams resist changing from familiar Waterfall habits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Stakeholders struggle with "no detailed plan upfront"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Lack of customer availability for ongoing feedback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Scope can still creep if backlog prioritization is weak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Misunderstanding of Agile roles and responsibilities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Solutions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Invest in Agile training and coaching for the whole team</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Set expectations with stakeholders using roadmaps and release plans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Schedule regular stakeholder demos to gather timely feedback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Use retrospectives to continuously improve team processes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Clarify who owns what with clear role definitions</a:t>
            </a:r>
            <a:endParaRPr lang="en-US" sz="1300" dirty="0"/>
          </a:p>
        </p:txBody>
      </p:sp>
      <p:sp>
        <p:nvSpPr>
          <p:cNvPr id="6" name="Shape 4"/>
          <p:cNvSpPr/>
          <p:nvPr/>
        </p:nvSpPr>
        <p:spPr>
          <a:xfrm>
            <a:off x="548640" y="6126480"/>
            <a:ext cx="1371600" cy="18288"/>
          </a:xfrm>
          <a:prstGeom prst="rect">
            <a:avLst/>
          </a:prstGeom>
          <a:solidFill>
            <a:srgbClr val="D8431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8431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53  ·  Scrum</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Common Scrum Pitfalls</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Team-Level Pitfalls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Treating Daily Scrum as a status meeting to the Scrum Master rather than a team coordination event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Skipping retrospectives when things are "going well"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Overloading Sprints with too much work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Organizational Pitfalls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Scrum Master acting as a traditional manager instead of a servant leader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Stakeholders not attending Sprint Reviews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Changing priorities mid-Sprint without a good reason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Scrum is deceptively simple to understand but difficult to master. The pitfalls above are where most teams get stuck.</a:t>
            </a:r>
            <a:endParaRPr lang="en-US" sz="1300" dirty="0"/>
          </a:p>
        </p:txBody>
      </p:sp>
      <p:sp>
        <p:nvSpPr>
          <p:cNvPr id="6" name="Shape 4"/>
          <p:cNvSpPr/>
          <p:nvPr/>
        </p:nvSpPr>
        <p:spPr>
          <a:xfrm>
            <a:off x="548640" y="6126480"/>
            <a:ext cx="1371600" cy="18288"/>
          </a:xfrm>
          <a:prstGeom prst="rect">
            <a:avLst/>
          </a:prstGeom>
          <a:solidFill>
            <a:srgbClr val="D8431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84315"/>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54  ·  Scrum</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The Scrum Master as a Coach</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Scrum Master is a servant-leader — they serve the team, not direct it. Their job is to help the team work better, not to assign tasks.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Coaching the Team</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Facilitates Scrum events effectively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Removes impediments and obstacles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Teaches Agile principles and Scrum practices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Creates a safe space for team members to experiment and fail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Coaching the Organization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Helps leadership understand Agile principles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Works to remove systemic obstacles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Advocates for the team's needs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Key Distinction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 Scrum Master does NOT assign work. The team self-organizes and pulls their own tasks from the Sprint Backlog.</a:t>
            </a:r>
            <a:endParaRPr lang="en-US" sz="1300" dirty="0"/>
          </a:p>
        </p:txBody>
      </p:sp>
      <p:sp>
        <p:nvSpPr>
          <p:cNvPr id="6" name="Shape 4"/>
          <p:cNvSpPr/>
          <p:nvPr/>
        </p:nvSpPr>
        <p:spPr>
          <a:xfrm>
            <a:off x="548640" y="6126480"/>
            <a:ext cx="1371600" cy="18288"/>
          </a:xfrm>
          <a:prstGeom prst="rect">
            <a:avLst/>
          </a:prstGeom>
          <a:solidFill>
            <a:srgbClr val="D84315"/>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2E75B6"/>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55  ·  Agile</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The Evolution of Agile and AI in Project Management</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How Agile Has Evolved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Scaled Agile frameworks emerged for large organizations (SAFe, LeSS)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Agile spread from software to marketing, HR, education, and government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DevOps and Agile are increasingly combined for end-to-end delivery</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Remote and distributed Agile teams are now the norm</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AI in Project Management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Predictive risk identification using historical project data</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Automated status updates and reporting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Natural language interfaces for backlog management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Resource optimization and scheduling tools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AI assists PMs with data and analysis — but human judgment, communication, and leadership remain irreplaceable.</a:t>
            </a:r>
            <a:endParaRPr lang="en-US" sz="1300" dirty="0"/>
          </a:p>
        </p:txBody>
      </p:sp>
      <p:sp>
        <p:nvSpPr>
          <p:cNvPr id="6" name="Shape 4"/>
          <p:cNvSpPr/>
          <p:nvPr/>
        </p:nvSpPr>
        <p:spPr>
          <a:xfrm>
            <a:off x="548640" y="6126480"/>
            <a:ext cx="1371600" cy="18288"/>
          </a:xfrm>
          <a:prstGeom prst="rect">
            <a:avLst/>
          </a:prstGeom>
          <a:solidFill>
            <a:srgbClr val="2E75B6"/>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00695C"/>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56  ·  Career</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Finding Your First PM Job</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Project management is one of the most sought-after skills across industries. Here is how to get started: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Where to Look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LinkedIn and job boards (Indeed, Glassdoor)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Your network — ask for informational interviews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Internal transfers within your current organization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PM communities and meetup groups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Stand Out as a Candidate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Highlight transferable skills from past roles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Build a portfolio of projects — even personal ones count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Tailor your resume to PM language and responsibilities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Entry Points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Coordinator or associate PM roles</a:t>
            </a:r>
            <a:endParaRPr lang="en-US" sz="1300" dirty="0"/>
          </a:p>
        </p:txBody>
      </p:sp>
      <p:sp>
        <p:nvSpPr>
          <p:cNvPr id="6" name="Shape 4"/>
          <p:cNvSpPr/>
          <p:nvPr/>
        </p:nvSpPr>
        <p:spPr>
          <a:xfrm>
            <a:off x="548640" y="6126480"/>
            <a:ext cx="1371600" cy="18288"/>
          </a:xfrm>
          <a:prstGeom prst="rect">
            <a:avLst/>
          </a:prstGeom>
          <a:solidFill>
            <a:srgbClr val="00695C"/>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00695C"/>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57  ·  Career</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How to Find the Right PM Role for You</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Not all PM roles are the same. Understanding the differences helps you find the best fit.</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Traditional PM</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Construction, manufacturing, or large IT projects. Waterfall-heavy, contract-focused, process-driven.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Technical PM</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Works with engineering teams. Requires understanding of software development and technical constraints.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Agile PM / Scrum Master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Focused on facilitating Agile teams. Coaching and servant leadership, not command and control.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Program Manager</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Manages multiple related projects simultaneously to achieve a larger strategic goal.</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Start by identifying industries you are excited about, then find the PM flavor that fits that environment.</a:t>
            </a:r>
            <a:endParaRPr lang="en-US" sz="1300" dirty="0"/>
          </a:p>
        </p:txBody>
      </p:sp>
      <p:sp>
        <p:nvSpPr>
          <p:cNvPr id="6" name="Shape 4"/>
          <p:cNvSpPr/>
          <p:nvPr/>
        </p:nvSpPr>
        <p:spPr>
          <a:xfrm>
            <a:off x="548640" y="6126480"/>
            <a:ext cx="1371600" cy="18288"/>
          </a:xfrm>
          <a:prstGeom prst="rect">
            <a:avLst/>
          </a:prstGeom>
          <a:solidFill>
            <a:srgbClr val="00695C"/>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00695C"/>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58  ·  Career</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How to Keep Improving as a Project Manager</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Continuous Learning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Pursue certifications: PMP, CAPM, PMI-ACP, Scrum certifications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Read PM books and follow industry thought leaders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Attend PM conferences and join professional organizations (PMI)</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On-the-Job Growth</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Always run project retrospectives and apply the learnings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Seek feedback from team members, stakeholders, and sponsors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Volunteer for challenging projects that stretch your skills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best project managers are perpetual learners. Every project teaches you something new if you are paying attention.</a:t>
            </a:r>
            <a:endParaRPr lang="en-US" sz="1300" dirty="0"/>
          </a:p>
        </p:txBody>
      </p:sp>
      <p:sp>
        <p:nvSpPr>
          <p:cNvPr id="6" name="Shape 4"/>
          <p:cNvSpPr/>
          <p:nvPr/>
        </p:nvSpPr>
        <p:spPr>
          <a:xfrm>
            <a:off x="548640" y="6126480"/>
            <a:ext cx="1371600" cy="18288"/>
          </a:xfrm>
          <a:prstGeom prst="rect">
            <a:avLst/>
          </a:prstGeom>
          <a:solidFill>
            <a:srgbClr val="00695C"/>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4A148C"/>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59  ·  Summary</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Key Takeaways: A Complete Course Summary</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Foundation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PM is about delivering value through organized, intentional work</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Initiation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Define goals, scope, stakeholders, and success criteria</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Planning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Create schedule, budget, risk plan, and communication plan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Execution</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Lead the team, track progress, manage risks and stakeholders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Closing</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Confirm completion, capture lessons learned, archive docs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Agile &amp; Scrum</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Iterative delivery, self-organizing teams, continuous improvement</a:t>
            </a:r>
            <a:endParaRPr lang="en-US" sz="1300" dirty="0"/>
          </a:p>
        </p:txBody>
      </p:sp>
      <p:sp>
        <p:nvSpPr>
          <p:cNvPr id="6" name="Shape 4"/>
          <p:cNvSpPr/>
          <p:nvPr/>
        </p:nvSpPr>
        <p:spPr>
          <a:xfrm>
            <a:off x="548640" y="6126480"/>
            <a:ext cx="1371600" cy="18288"/>
          </a:xfrm>
          <a:prstGeom prst="rect">
            <a:avLst/>
          </a:prstGeom>
          <a:solidFill>
            <a:srgbClr val="4A148C"/>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1E1E1E"/>
          </a:solidFill>
          <a:ln/>
        </p:spPr>
      </p:sp>
      <p:sp>
        <p:nvSpPr>
          <p:cNvPr id="3" name="Text 1"/>
          <p:cNvSpPr/>
          <p:nvPr/>
        </p:nvSpPr>
        <p:spPr>
          <a:xfrm>
            <a:off x="548640" y="228600"/>
            <a:ext cx="8229600" cy="365760"/>
          </a:xfrm>
          <a:prstGeom prst="rect">
            <a:avLst/>
          </a:prstGeom>
          <a:noFill/>
          <a:ln/>
        </p:spPr>
        <p:txBody>
          <a:bodyPr wrap="square" rtlCol="0" anchor="ctr"/>
          <a:lstStyle/>
          <a:p>
            <a:pPr indent="0" marL="0">
              <a:buNone/>
            </a:pPr>
            <a:r>
              <a:rPr lang="en-US" sz="900" dirty="0">
                <a:solidFill>
                  <a:srgbClr val="888888"/>
                </a:solidFill>
                <a:latin typeface="Inter" pitchFamily="34" charset="0"/>
                <a:ea typeface="Inter" pitchFamily="34" charset="-122"/>
                <a:cs typeface="Inter" pitchFamily="34" charset="-120"/>
              </a:rPr>
              <a:t>60  ·  The End</a:t>
            </a:r>
            <a:endParaRPr lang="en-US" sz="900" dirty="0"/>
          </a:p>
        </p:txBody>
      </p:sp>
      <p:sp>
        <p:nvSpPr>
          <p:cNvPr id="4" name="Text 2"/>
          <p:cNvSpPr/>
          <p:nvPr/>
        </p:nvSpPr>
        <p:spPr>
          <a:xfrm>
            <a:off x="548640" y="731520"/>
            <a:ext cx="8046720" cy="731520"/>
          </a:xfrm>
          <a:prstGeom prst="rect">
            <a:avLst/>
          </a:prstGeom>
          <a:noFill/>
          <a:ln/>
        </p:spPr>
        <p:txBody>
          <a:bodyPr wrap="square" rtlCol="0" anchor="ctr"/>
          <a:lstStyle/>
          <a:p>
            <a:pPr algn="l" indent="0" marL="0">
              <a:buNone/>
            </a:pPr>
            <a:r>
              <a:rPr lang="en-US" sz="2800" b="1" dirty="0">
                <a:solidFill>
                  <a:srgbClr val="F5F5F0"/>
                </a:solidFill>
                <a:latin typeface="Inter" pitchFamily="34" charset="0"/>
                <a:ea typeface="Inter" pitchFamily="34" charset="-122"/>
                <a:cs typeface="Inter" pitchFamily="34" charset="-120"/>
              </a:rPr>
              <a:t>You Are Ready.</a:t>
            </a:r>
            <a:endParaRPr lang="en-US" sz="2800" dirty="0"/>
          </a:p>
        </p:txBody>
      </p:sp>
      <p:sp>
        <p:nvSpPr>
          <p:cNvPr id="5" name="Text 3"/>
          <p:cNvSpPr/>
          <p:nvPr/>
        </p:nvSpPr>
        <p:spPr>
          <a:xfrm>
            <a:off x="548640" y="1645920"/>
            <a:ext cx="8046720" cy="4114800"/>
          </a:xfrm>
          <a:prstGeom prst="rect">
            <a:avLst/>
          </a:prstGeom>
          <a:noFill/>
          <a:ln/>
        </p:spPr>
        <p:txBody>
          <a:bodyPr wrap="square" rtlCol="0" anchor="t"/>
          <a:lstStyle/>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Google Project Management Certificate — Complete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Slides Covered</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Major Sections</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Projects to Manage</a:t>
            </a:r>
            <a:endParaRPr lang="en-US" sz="1300" dirty="0"/>
          </a:p>
          <a:p>
            <a:pPr marL="342900" indent="-342900">
              <a:lnSpc>
                <a:spcPct val="140000"/>
              </a:lnSpc>
              <a:buSzPct val="100000"/>
              <a:buChar char="•"/>
            </a:pPr>
            <a:r>
              <a:rPr lang="en-US" sz="1300" dirty="0">
                <a:solidFill>
                  <a:srgbClr val="F5F5F0"/>
                </a:solidFill>
                <a:latin typeface="Inter" pitchFamily="34" charset="0"/>
                <a:ea typeface="Inter" pitchFamily="34" charset="-122"/>
                <a:cs typeface="Inter" pitchFamily="34" charset="-120"/>
              </a:rPr>
              <a:t>"The successful project manager is one who makes it look easy."</a:t>
            </a:r>
            <a:endParaRPr lang="en-US" sz="1300" dirty="0"/>
          </a:p>
        </p:txBody>
      </p:sp>
      <p:sp>
        <p:nvSpPr>
          <p:cNvPr id="6" name="Shape 4"/>
          <p:cNvSpPr/>
          <p:nvPr/>
        </p:nvSpPr>
        <p:spPr>
          <a:xfrm>
            <a:off x="548640" y="6126480"/>
            <a:ext cx="1371600" cy="18288"/>
          </a:xfrm>
          <a:prstGeom prst="rect">
            <a:avLst/>
          </a:prstGeom>
          <a:solidFill>
            <a:srgbClr val="1E1E1E"/>
          </a:solidFill>
          <a:ln/>
        </p:spPr>
      </p:sp>
      <p:sp>
        <p:nvSpPr>
          <p:cNvPr id="7" name="Text 5"/>
          <p:cNvSpPr/>
          <p:nvPr/>
        </p:nvSpPr>
        <p:spPr>
          <a:xfrm>
            <a:off x="548640" y="6263640"/>
            <a:ext cx="3657600" cy="274320"/>
          </a:xfrm>
          <a:prstGeom prst="rect">
            <a:avLst/>
          </a:prstGeom>
          <a:noFill/>
          <a:ln/>
        </p:spPr>
        <p:txBody>
          <a:bodyPr wrap="square" rtlCol="0" anchor="ctr"/>
          <a:lstStyle/>
          <a:p>
            <a:pPr indent="0" marL="0">
              <a:buNone/>
            </a:pPr>
            <a:r>
              <a:rPr lang="en-US" sz="800" dirty="0">
                <a:solidFill>
                  <a:srgbClr val="888888"/>
                </a:solidFill>
                <a:latin typeface="Inter" pitchFamily="34" charset="0"/>
                <a:ea typeface="Inter" pitchFamily="34" charset="-122"/>
                <a:cs typeface="Inter" pitchFamily="34" charset="-120"/>
              </a:rPr>
              <a:t>Google Project Management Certificate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2026-05-12T19:07:30Z</dcterms:created>
  <dcterms:modified xsi:type="dcterms:W3CDTF">2026-05-12T19:07:30Z</dcterms:modified>
</cp:coreProperties>
</file>